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75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yson santos da cruz" userId="20e62cc4406f9729" providerId="LiveId" clId="{94E4B537-B660-4E55-84A5-DA92958B4B75}"/>
    <pc:docChg chg="custSel modSld">
      <pc:chgData name="jordyson santos da cruz" userId="20e62cc4406f9729" providerId="LiveId" clId="{94E4B537-B660-4E55-84A5-DA92958B4B75}" dt="2026-06-03T00:13:23.057" v="134" actId="1440"/>
      <pc:docMkLst>
        <pc:docMk/>
      </pc:docMkLst>
      <pc:sldChg chg="modSp mod">
        <pc:chgData name="jordyson santos da cruz" userId="20e62cc4406f9729" providerId="LiveId" clId="{94E4B537-B660-4E55-84A5-DA92958B4B75}" dt="2026-05-24T18:24:59.005" v="27" actId="20577"/>
        <pc:sldMkLst>
          <pc:docMk/>
          <pc:sldMk cId="1795365783" sldId="258"/>
        </pc:sldMkLst>
        <pc:spChg chg="mod">
          <ac:chgData name="jordyson santos da cruz" userId="20e62cc4406f9729" providerId="LiveId" clId="{94E4B537-B660-4E55-84A5-DA92958B4B75}" dt="2026-05-24T18:24:59.005" v="27" actId="20577"/>
          <ac:spMkLst>
            <pc:docMk/>
            <pc:sldMk cId="1795365783" sldId="258"/>
            <ac:spMk id="5" creationId="{7C297E8F-9A60-06F4-7690-64E1BA4FCD57}"/>
          </ac:spMkLst>
        </pc:spChg>
      </pc:sldChg>
      <pc:sldChg chg="modSp mod">
        <pc:chgData name="jordyson santos da cruz" userId="20e62cc4406f9729" providerId="LiveId" clId="{94E4B537-B660-4E55-84A5-DA92958B4B75}" dt="2026-05-24T18:27:52.154" v="29" actId="1076"/>
        <pc:sldMkLst>
          <pc:docMk/>
          <pc:sldMk cId="642753294" sldId="260"/>
        </pc:sldMkLst>
        <pc:spChg chg="mod">
          <ac:chgData name="jordyson santos da cruz" userId="20e62cc4406f9729" providerId="LiveId" clId="{94E4B537-B660-4E55-84A5-DA92958B4B75}" dt="2026-05-24T18:27:52.154" v="29" actId="1076"/>
          <ac:spMkLst>
            <pc:docMk/>
            <pc:sldMk cId="642753294" sldId="260"/>
            <ac:spMk id="5" creationId="{769008A2-E266-D856-48F6-CCDA7BEDF02E}"/>
          </ac:spMkLst>
        </pc:spChg>
      </pc:sldChg>
      <pc:sldChg chg="modSp mod">
        <pc:chgData name="jordyson santos da cruz" userId="20e62cc4406f9729" providerId="LiveId" clId="{94E4B537-B660-4E55-84A5-DA92958B4B75}" dt="2026-05-24T18:31:04.522" v="114" actId="20577"/>
        <pc:sldMkLst>
          <pc:docMk/>
          <pc:sldMk cId="4016943726" sldId="263"/>
        </pc:sldMkLst>
        <pc:graphicFrameChg chg="modGraphic">
          <ac:chgData name="jordyson santos da cruz" userId="20e62cc4406f9729" providerId="LiveId" clId="{94E4B537-B660-4E55-84A5-DA92958B4B75}" dt="2026-05-24T18:31:04.522" v="114" actId="20577"/>
          <ac:graphicFrameMkLst>
            <pc:docMk/>
            <pc:sldMk cId="4016943726" sldId="263"/>
            <ac:graphicFrameMk id="4" creationId="{30E5D932-842A-D2EC-2F69-0388EE33B045}"/>
          </ac:graphicFrameMkLst>
        </pc:graphicFrameChg>
      </pc:sldChg>
      <pc:sldChg chg="modSp mod">
        <pc:chgData name="jordyson santos da cruz" userId="20e62cc4406f9729" providerId="LiveId" clId="{94E4B537-B660-4E55-84A5-DA92958B4B75}" dt="2026-05-28T21:16:05.920" v="132" actId="20577"/>
        <pc:sldMkLst>
          <pc:docMk/>
          <pc:sldMk cId="1186856842" sldId="269"/>
        </pc:sldMkLst>
        <pc:spChg chg="mod">
          <ac:chgData name="jordyson santos da cruz" userId="20e62cc4406f9729" providerId="LiveId" clId="{94E4B537-B660-4E55-84A5-DA92958B4B75}" dt="2026-05-28T21:16:05.920" v="132" actId="20577"/>
          <ac:spMkLst>
            <pc:docMk/>
            <pc:sldMk cId="1186856842" sldId="269"/>
            <ac:spMk id="3" creationId="{2DE19489-13A1-295E-C2E4-C1D00CA1A091}"/>
          </ac:spMkLst>
        </pc:spChg>
      </pc:sldChg>
      <pc:sldChg chg="modSp mod">
        <pc:chgData name="jordyson santos da cruz" userId="20e62cc4406f9729" providerId="LiveId" clId="{94E4B537-B660-4E55-84A5-DA92958B4B75}" dt="2026-06-03T00:13:23.057" v="134" actId="1440"/>
        <pc:sldMkLst>
          <pc:docMk/>
          <pc:sldMk cId="1271824584" sldId="271"/>
        </pc:sldMkLst>
        <pc:picChg chg="mod">
          <ac:chgData name="jordyson santos da cruz" userId="20e62cc4406f9729" providerId="LiveId" clId="{94E4B537-B660-4E55-84A5-DA92958B4B75}" dt="2026-06-03T00:10:01.333" v="133" actId="1440"/>
          <ac:picMkLst>
            <pc:docMk/>
            <pc:sldMk cId="1271824584" sldId="271"/>
            <ac:picMk id="9" creationId="{9586FEE5-2E3F-DC67-E5DF-5D02E08E9C32}"/>
          </ac:picMkLst>
        </pc:picChg>
        <pc:picChg chg="mod">
          <ac:chgData name="jordyson santos da cruz" userId="20e62cc4406f9729" providerId="LiveId" clId="{94E4B537-B660-4E55-84A5-DA92958B4B75}" dt="2026-06-03T00:13:23.057" v="134" actId="1440"/>
          <ac:picMkLst>
            <pc:docMk/>
            <pc:sldMk cId="1271824584" sldId="271"/>
            <ac:picMk id="13" creationId="{DE5F4611-FF94-EA85-470D-74D5E8E03D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5A3735-DD1B-414D-B57C-0507B354E35E}" type="datetimeFigureOut">
              <a:rPr lang="pt-BR" smtClean="0"/>
              <a:t>31/05/2026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D9025-5800-4A45-9584-A4875A91B3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172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D9025-5800-4A45-9584-A4875A91B31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9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5CB53-C669-2279-C37B-90F3074A99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890573-59ED-6CC1-D1DB-2D44C8A8F602}"/>
              </a:ext>
            </a:extLst>
          </p:cNvPr>
          <p:cNvSpPr txBox="1"/>
          <p:nvPr/>
        </p:nvSpPr>
        <p:spPr>
          <a:xfrm>
            <a:off x="447368" y="3367548"/>
            <a:ext cx="112972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mobilidade nas grandes cidades enfrenta um gargalo crítico no ato final de qualquer viagem: o estacionar. Em distritos financeiros, centros médicos e complexos corporativos, encontrar uma vaga tornou-se uma maratona burocrática. Filas imprevisíveis e a incerteza de disponibilidade geram um estresse invisível que drena tempo e produtividade dos motoristas antes mesmo de seus compromissos começarem. Para resolver essa ineficiência, este sistema introduz o conceito de Agendamento Prévio em Estacionamentos Privados. O objetivo principal é inverter a lógica tradicional do "procurar e torcer" para o "reservar e chegar".  Ao garantir a vaga antes de sair de casa, o sistema elimina as barreiras físicas e burocráticas do acesso. A entrada em ambientes complexos passa a ser uma transição fluida e automatizada. Mais do que gerenciar espaços, a plataforma entrega previsibilidade e tranquilidade, devolvendo ao motorista o controle de sua rotina e transformando o estacionar em uma experiência imperceptível.</a:t>
            </a:r>
          </a:p>
        </p:txBody>
      </p:sp>
    </p:spTree>
    <p:extLst>
      <p:ext uri="{BB962C8B-B14F-4D97-AF65-F5344CB8AC3E}">
        <p14:creationId xmlns:p14="http://schemas.microsoft.com/office/powerpoint/2010/main" val="293830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1AB24-BE7A-58E1-1945-D8DF1A3BD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E1165E-775A-6021-311A-AA0A3BB2CB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objetivo principal desta ferramenta é eliminar a incerteza e a burocracia do ato de estacionar, transformando a chegada ao destino em uma experiência fluida, previsível e sem estresse.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297E8F-9A60-06F4-7690-64E1BA4FCD57}"/>
              </a:ext>
            </a:extLst>
          </p:cNvPr>
          <p:cNvSpPr txBox="1"/>
          <p:nvPr/>
        </p:nvSpPr>
        <p:spPr>
          <a:xfrm>
            <a:off x="581191" y="345603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Garantia de Vaga Prévia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Experiência do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Devolução de Tempo e Produtividade</a:t>
            </a:r>
          </a:p>
        </p:txBody>
      </p:sp>
    </p:spTree>
    <p:extLst>
      <p:ext uri="{BB962C8B-B14F-4D97-AF65-F5344CB8AC3E}">
        <p14:creationId xmlns:p14="http://schemas.microsoft.com/office/powerpoint/2010/main" val="179536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3C03E-30D9-3430-7505-287D41DD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Stakeholders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D3470-8E13-4134-4F12-412CD371A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Clientes (Quem consome): </a:t>
            </a:r>
            <a:r>
              <a:rPr lang="pt-BR" b="1" dirty="0"/>
              <a:t>Motoristas/Usuários Finais:</a:t>
            </a:r>
            <a:r>
              <a:rPr lang="pt-BR" dirty="0"/>
              <a:t> São os clientes diretos. O principal interesse deles é a conveniência, a agilidade, a garantia de que a vaga existirá e uma experiência de pagamento sem atritos (via app).</a:t>
            </a:r>
          </a:p>
          <a:p>
            <a:r>
              <a:rPr lang="pt-BR" dirty="0"/>
              <a:t>Os Parceiros e Provedores (Quem fornece): </a:t>
            </a:r>
            <a:r>
              <a:rPr lang="pt-BR" b="1" dirty="0"/>
              <a:t>Operadoras de Estacionamento Privado:</a:t>
            </a:r>
            <a:r>
              <a:rPr lang="pt-BR" dirty="0"/>
              <a:t> Empresas que administram as vagas. O interesse delas é otimizar a taxa de ocupação do local, atrair mais clientes nos horários de pico e ter previsibilidade de receita.</a:t>
            </a:r>
          </a:p>
          <a:p>
            <a:r>
              <a:rPr lang="pt-BR" dirty="0"/>
              <a:t>A Operação e Tecnologia (Quem sustenta): </a:t>
            </a:r>
            <a:r>
              <a:rPr lang="pt-BR" b="1" dirty="0"/>
              <a:t>Sua Equipe (Desenvolvedores e Gestores do Sistema):</a:t>
            </a:r>
            <a:r>
              <a:rPr lang="pt-BR" dirty="0"/>
              <a:t> Responsáveis por manter o aplicativo no ar, garantir que a API de agendamento não falhe e que a integração com o hardware das cancelas seja instantânea.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401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7558F-CD36-B3B6-9882-2A72028C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Plataformas utilizadas para o desenvolvimento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523BAC-75CB-C164-D1BE-B1A75D702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2250892"/>
            <a:ext cx="2843141" cy="536005"/>
          </a:xfrm>
        </p:spPr>
        <p:txBody>
          <a:bodyPr/>
          <a:lstStyle/>
          <a:p>
            <a:pPr algn="ctr"/>
            <a:r>
              <a:rPr lang="pt-BR" dirty="0" err="1"/>
              <a:t>Figma</a:t>
            </a:r>
            <a:endParaRPr lang="pt-BR" dirty="0"/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8447DE09-A981-2099-208F-2FB0911429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025" y="2926052"/>
            <a:ext cx="2843213" cy="29349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478B8B-12F0-E143-E22C-E832D5CEB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14738" y="2242207"/>
            <a:ext cx="2955111" cy="553373"/>
          </a:xfrm>
        </p:spPr>
        <p:txBody>
          <a:bodyPr/>
          <a:lstStyle/>
          <a:p>
            <a:pPr algn="ctr"/>
            <a:r>
              <a:rPr lang="pt-BR" dirty="0" err="1"/>
              <a:t>BrModelo</a:t>
            </a:r>
            <a:endParaRPr lang="pt-BR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31ADCB6C-0C91-D905-44F7-DAD5D89A0AE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098713" y="3017838"/>
            <a:ext cx="2843212" cy="284321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E70AF65-FB72-51C9-A2DD-743C90EF825E}"/>
              </a:ext>
            </a:extLst>
          </p:cNvPr>
          <p:cNvSpPr txBox="1"/>
          <p:nvPr/>
        </p:nvSpPr>
        <p:spPr>
          <a:xfrm>
            <a:off x="7448450" y="2356010"/>
            <a:ext cx="28431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dirty="0" err="1">
                <a:solidFill>
                  <a:schemeClr val="accent2"/>
                </a:solidFill>
              </a:rPr>
              <a:t>LucidChart</a:t>
            </a:r>
            <a:endParaRPr lang="pt-BR" sz="2200" dirty="0">
              <a:solidFill>
                <a:schemeClr val="accent2"/>
              </a:solidFill>
            </a:endParaRPr>
          </a:p>
        </p:txBody>
      </p:sp>
      <p:pic>
        <p:nvPicPr>
          <p:cNvPr id="13" name="Espaço Reservado para Conteúdo 11">
            <a:extLst>
              <a:ext uri="{FF2B5EF4-FFF2-40B4-BE49-F238E27FC236}">
                <a16:creationId xmlns:a16="http://schemas.microsoft.com/office/drawing/2014/main" id="{3DC66421-5ED8-41DF-E734-7FF12FA04C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6401" y="3017838"/>
            <a:ext cx="2843212" cy="284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CE0E75D-875D-77DB-74B4-B0D510E54C45}"/>
              </a:ext>
            </a:extLst>
          </p:cNvPr>
          <p:cNvSpPr txBox="1"/>
          <p:nvPr/>
        </p:nvSpPr>
        <p:spPr>
          <a:xfrm>
            <a:off x="749010" y="6000205"/>
            <a:ext cx="2507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Usado para desenvolver as telas da aplicação.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8E797E7-F82D-D1F4-6A27-9972AA74213C}"/>
              </a:ext>
            </a:extLst>
          </p:cNvPr>
          <p:cNvSpPr txBox="1"/>
          <p:nvPr/>
        </p:nvSpPr>
        <p:spPr>
          <a:xfrm>
            <a:off x="4098713" y="6000205"/>
            <a:ext cx="2507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Desenvolvimento do modelo conceitual do projeto.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566FC5F-21D7-0D34-C0AB-77A2B6ECAF0B}"/>
              </a:ext>
            </a:extLst>
          </p:cNvPr>
          <p:cNvSpPr txBox="1"/>
          <p:nvPr/>
        </p:nvSpPr>
        <p:spPr>
          <a:xfrm>
            <a:off x="7784349" y="6000205"/>
            <a:ext cx="2507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Utilizado para criar os diagrama logico do sistema.</a:t>
            </a:r>
          </a:p>
        </p:txBody>
      </p:sp>
    </p:spTree>
    <p:extLst>
      <p:ext uri="{BB962C8B-B14F-4D97-AF65-F5344CB8AC3E}">
        <p14:creationId xmlns:p14="http://schemas.microsoft.com/office/powerpoint/2010/main" val="873585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83CBF-A219-3408-1234-38FE134230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Levantamento de requisitos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1569C9-5D29-A6CD-4611-02C1126FD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Requisitos funcionais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69008A2-E266-D856-48F6-CCDA7BEDF02E}"/>
              </a:ext>
            </a:extLst>
          </p:cNvPr>
          <p:cNvSpPr txBox="1"/>
          <p:nvPr/>
        </p:nvSpPr>
        <p:spPr>
          <a:xfrm>
            <a:off x="473578" y="3390566"/>
            <a:ext cx="112087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RF-001 (Cadastro e Login):</a:t>
            </a:r>
            <a:r>
              <a:rPr lang="pt-BR" sz="1600" dirty="0">
                <a:solidFill>
                  <a:schemeClr val="bg1"/>
                </a:solidFill>
              </a:rPr>
              <a:t> O sistema deve permitir que o usuário crie uma conta e realize o cadastro.</a:t>
            </a:r>
          </a:p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RF-002 (Cadastro de Veículos):</a:t>
            </a:r>
            <a:r>
              <a:rPr lang="pt-BR" sz="1600" dirty="0">
                <a:solidFill>
                  <a:schemeClr val="bg1"/>
                </a:solidFill>
              </a:rPr>
              <a:t> O usuário deve conseguir cadastrar um ou mais veículos, informando placa, modelo.</a:t>
            </a:r>
          </a:p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RF-003 (Busca de Estacionamentos):</a:t>
            </a:r>
            <a:r>
              <a:rPr lang="pt-BR" sz="1600" dirty="0">
                <a:solidFill>
                  <a:schemeClr val="bg1"/>
                </a:solidFill>
              </a:rPr>
              <a:t> O sistema deve listar estacionamentos privados parceiros por localização, proximidade ou nome do estabelecimento.</a:t>
            </a:r>
          </a:p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RF-004 (Agendamento de Vaga):</a:t>
            </a:r>
            <a:r>
              <a:rPr lang="pt-BR" sz="1600" dirty="0">
                <a:solidFill>
                  <a:schemeClr val="bg1"/>
                </a:solidFill>
              </a:rPr>
              <a:t> O usuário deve selecionar a data, o horário de entrada e o horário de saída para reservar uma vaga.</a:t>
            </a:r>
          </a:p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RF-005 (Pagamento Integrado):</a:t>
            </a:r>
            <a:r>
              <a:rPr lang="pt-BR" sz="1600" dirty="0">
                <a:solidFill>
                  <a:schemeClr val="bg1"/>
                </a:solidFill>
              </a:rPr>
              <a:t> O sistema deve processar pagamentos digitais para confirmar a reserva (via Pix, Cartão de Crédito). </a:t>
            </a:r>
          </a:p>
          <a:p>
            <a:pPr>
              <a:buNone/>
            </a:pPr>
            <a:r>
              <a:rPr lang="pt-BR" sz="1600" b="1" dirty="0">
                <a:solidFill>
                  <a:schemeClr val="bg1"/>
                </a:solidFill>
              </a:rPr>
              <a:t>RF-006 (Check-in Automático):</a:t>
            </a:r>
            <a:r>
              <a:rPr lang="pt-BR" sz="1600" dirty="0">
                <a:solidFill>
                  <a:schemeClr val="bg1"/>
                </a:solidFill>
              </a:rPr>
              <a:t> O aplicativo deve fornecer a placa do veículo para que na entrada do seja feito a leitura da placa e liberado a cancela.</a:t>
            </a:r>
          </a:p>
        </p:txBody>
      </p:sp>
    </p:spTree>
    <p:extLst>
      <p:ext uri="{BB962C8B-B14F-4D97-AF65-F5344CB8AC3E}">
        <p14:creationId xmlns:p14="http://schemas.microsoft.com/office/powerpoint/2010/main" val="64275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D2BB-F03B-CDF9-E06B-288F19CC5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7EABE-8FEB-DFEC-A552-0E56716640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Levantamento de requisitos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59DBF6-D619-2809-97E1-06AC0B4AE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Requisitos não funcionais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826933-FEC8-A862-8B40-1BBA2B756338}"/>
              </a:ext>
            </a:extLst>
          </p:cNvPr>
          <p:cNvSpPr txBox="1"/>
          <p:nvPr/>
        </p:nvSpPr>
        <p:spPr>
          <a:xfrm>
            <a:off x="473578" y="3164424"/>
            <a:ext cx="1120877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</a:rPr>
              <a:t>RNF-001 (Confiabilidade e Disponibilidade):</a:t>
            </a:r>
            <a:r>
              <a:rPr lang="pt-BR" sz="1600" dirty="0">
                <a:solidFill>
                  <a:schemeClr val="bg1"/>
                </a:solidFill>
              </a:rPr>
              <a:t> O sistema de agendamento deve operar na nuvem e possuir uma disponibilidade de 99,0% (alta tolerância a falhas para evitar que um motorista fique preso na cancela por instabilidade do servidor).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RNF-002 (Tempo de Resposta/Desempenho):</a:t>
            </a:r>
            <a:r>
              <a:rPr lang="pt-BR" sz="1600" dirty="0">
                <a:solidFill>
                  <a:schemeClr val="bg1"/>
                </a:solidFill>
              </a:rPr>
              <a:t> A validação da placa na entrada do estacionamento deve demorar, no máximo, 2 segundos para não gerar filas.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RNF-003 (Segurança e Privacidade):</a:t>
            </a:r>
            <a:r>
              <a:rPr lang="pt-BR" sz="1600" dirty="0">
                <a:solidFill>
                  <a:schemeClr val="bg1"/>
                </a:solidFill>
              </a:rPr>
              <a:t> O sistema deve criptografar os dados sensíveis dos usuários (como dados de pagamento) e estar em total conformidade com a LGPD (Lei Geral de Proteção de Dados), protegendo o histórico de rotas e placas.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RNF-004 (Usabilidade):</a:t>
            </a:r>
            <a:r>
              <a:rPr lang="pt-BR" sz="1600" dirty="0">
                <a:solidFill>
                  <a:schemeClr val="bg1"/>
                </a:solidFill>
              </a:rPr>
              <a:t> A interface mobile deve ser intuitiva, permitindo que um agendamento completo e rápido.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RNF-005 (Integração de Hardware):</a:t>
            </a:r>
            <a:r>
              <a:rPr lang="pt-BR" sz="1600" dirty="0">
                <a:solidFill>
                  <a:schemeClr val="bg1"/>
                </a:solidFill>
              </a:rPr>
              <a:t> O software deve ser capaz de se integrar via API com os hardwares locais dos estacionamentos (câmeras LPR, cancelas automáticas e totens de autoatendimento).</a:t>
            </a:r>
          </a:p>
          <a:p>
            <a:r>
              <a:rPr lang="pt-BR" sz="1600" b="1" dirty="0">
                <a:solidFill>
                  <a:schemeClr val="bg1"/>
                </a:solidFill>
              </a:rPr>
              <a:t>RNF-006 (Escalabilidade):</a:t>
            </a:r>
            <a:r>
              <a:rPr lang="pt-BR" sz="1600" dirty="0">
                <a:solidFill>
                  <a:schemeClr val="bg1"/>
                </a:solidFill>
              </a:rPr>
              <a:t> A arquitetura do banco de dados deve suportar o crescimento do volume de acessos simultâneos em horários de pico (</a:t>
            </a:r>
            <a:r>
              <a:rPr lang="pt-BR" sz="1600" dirty="0" err="1">
                <a:solidFill>
                  <a:schemeClr val="bg1"/>
                </a:solidFill>
              </a:rPr>
              <a:t>ex</a:t>
            </a:r>
            <a:r>
              <a:rPr lang="pt-BR" sz="1600" dirty="0">
                <a:solidFill>
                  <a:schemeClr val="bg1"/>
                </a:solidFill>
              </a:rPr>
              <a:t>: entrada do horário comercial ou grandes eventos).</a:t>
            </a:r>
          </a:p>
        </p:txBody>
      </p:sp>
    </p:spTree>
    <p:extLst>
      <p:ext uri="{BB962C8B-B14F-4D97-AF65-F5344CB8AC3E}">
        <p14:creationId xmlns:p14="http://schemas.microsoft.com/office/powerpoint/2010/main" val="366071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3C2B4B-F83D-B6EF-441A-E1CADC17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contexto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36CB68-04E0-637F-670B-2874B2EB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20" y="2180497"/>
            <a:ext cx="11582400" cy="592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O diagrama de contexto apresenta o ecossistema do sistema de estacionamento, mapeando como os diferentes atores interagem diretamente com o processo central de gerenciamento de vagas. Ele simplifica o escopo do projeto, demonstrando o fluxo de dados e ações de cada entidade:</a:t>
            </a: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EA7E83-C8B1-F96F-636B-64DA307F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419" y="2697767"/>
            <a:ext cx="5547161" cy="376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82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6E882-259B-9CE2-4918-34003B2E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do negócios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30E5D932-842A-D2EC-2F69-0388EE33B0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719589"/>
              </p:ext>
            </p:extLst>
          </p:nvPr>
        </p:nvGraphicFramePr>
        <p:xfrm>
          <a:off x="581025" y="2035278"/>
          <a:ext cx="11029950" cy="4704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66859340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8110237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4181650365"/>
                    </a:ext>
                  </a:extLst>
                </a:gridCol>
              </a:tblGrid>
              <a:tr h="2946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Regras do Negócio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Implantação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582159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Unicidade de Identificação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O sistema não deve permitir o cadastro de mais de uma conta utilizando o mesmo e-mail ou CPF.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Mensagem de erro em tempo real ao tentar avançar.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730001"/>
                  </a:ext>
                </a:extLst>
              </a:tr>
              <a:tr h="761139">
                <a:tc>
                  <a:txBody>
                    <a:bodyPr/>
                    <a:lstStyle/>
                    <a:p>
                      <a:r>
                        <a:rPr lang="pt-BR" sz="1200" dirty="0"/>
                        <a:t>Formatação de Placa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 placa do veículo deve seguir estritamente o padrão Mercosul (ABC1D23) ou nacional antigo (ABC-1234). Letras devem ser convertidas para maiúsculas automaticamente.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Leitura das placas por câmeras na entrada do estacionamento.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256818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Vínculo de Reserva 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Um usuário pode ter vários veículos cadastrados, mas cada agendamento ativo só pode estar atrelado a uma única placa por vez.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Bloqueio de seleção na listagem de veículos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543150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Antecedência Mínima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Reservas só podem ser efetuadas com no mínimo 15 minutos de antecedência em relação ao horário de entrada escolhido.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Bloqueio de horários retroativos ou muito próximos no seletor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452811"/>
                  </a:ext>
                </a:extLst>
              </a:tr>
              <a:tr h="761139">
                <a:tc>
                  <a:txBody>
                    <a:bodyPr/>
                    <a:lstStyle/>
                    <a:p>
                      <a:r>
                        <a:rPr lang="pt-BR" sz="1200" dirty="0"/>
                        <a:t>Fração de Cobrança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O tempo mínimo de reserva é de 1 hora. Após a primeira hora, o sistema cobra em frações de 15 minutos ou hora cheia (conforme a política da operadora).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Cálculo automático do valor final ao finalizar ao realizar </a:t>
                      </a:r>
                      <a:r>
                        <a:rPr lang="pt-BR" sz="1200" dirty="0" err="1"/>
                        <a:t>Check-out</a:t>
                      </a:r>
                      <a:r>
                        <a:rPr lang="pt-BR" sz="1200" dirty="0"/>
                        <a:t>, saída do estacionamento.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963941"/>
                  </a:ext>
                </a:extLst>
              </a:tr>
              <a:tr h="761139">
                <a:tc>
                  <a:txBody>
                    <a:bodyPr/>
                    <a:lstStyle/>
                    <a:p>
                      <a:r>
                        <a:rPr lang="pt-BR" sz="1200" dirty="0"/>
                        <a:t>Trava de Overbooking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O sistema deve bloquear agendamentos quando a quantidade de reservas ativas atingir o limite máximo de vagas cedidas pela operadora para aquela faixa de horário.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Mensagem de "Vagas Esgotadas" ao tentar selecionar a unidade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358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94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8799-7E26-8571-7F74-3172E937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A7C-25AB-EA63-DCDC-2060E623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do negócios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56798A3-C897-FE71-383B-F095306C5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625921"/>
              </p:ext>
            </p:extLst>
          </p:nvPr>
        </p:nvGraphicFramePr>
        <p:xfrm>
          <a:off x="581025" y="2035278"/>
          <a:ext cx="11029950" cy="381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66859340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8110237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4181650365"/>
                    </a:ext>
                  </a:extLst>
                </a:gridCol>
              </a:tblGrid>
              <a:tr h="294634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Regras do Negócio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Implantação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582159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Garantia de Inventário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A vaga só é retirada do inventário disponível e garantida ao motorista após o retorno de sucesso do Pagamento.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Disparo do fluxo de sucesso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730001"/>
                  </a:ext>
                </a:extLst>
              </a:tr>
              <a:tr h="761139">
                <a:tc>
                  <a:txBody>
                    <a:bodyPr/>
                    <a:lstStyle/>
                    <a:p>
                      <a:r>
                        <a:rPr lang="pt-BR" sz="1200" dirty="0" err="1"/>
                        <a:t>Time-out</a:t>
                      </a:r>
                      <a:r>
                        <a:rPr lang="pt-BR" sz="1200" dirty="0"/>
                        <a:t> do Pix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O código Pix gerado tem validade estrita de 5 minutos. Se não houver confirmação, a reserva temporária é desfeita.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Cronômetro regressivo exibido. Se expirar, limpa a sessão.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256818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Janela de Tolerância (Entrada)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 O motorista tem uma janela de 15 minutos antes e 15 minutos depois do horário agendado para validar seu acesso na cancela física.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Liberação automática da cancela pela API de integração local.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543150"/>
                  </a:ext>
                </a:extLst>
              </a:tr>
              <a:tr h="589269">
                <a:tc>
                  <a:txBody>
                    <a:bodyPr/>
                    <a:lstStyle/>
                    <a:p>
                      <a:r>
                        <a:rPr lang="pt-BR" sz="1200" dirty="0"/>
                        <a:t>Retenção por Hora Extra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Se o veículo permanecer no estacionamento além do horário de saída contratado (respeitando 10 min de tolerância), a cancela de saída não abrirá.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permanecer no estacionamento além do horário de saída contratado (respeitando 10 min de tolerância), a cancela de saída não abrirá.	Bloqueio físico. O app envia notificação de cobrança adicional para liberação.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452811"/>
                  </a:ext>
                </a:extLst>
              </a:tr>
              <a:tr h="163759">
                <a:tc>
                  <a:txBody>
                    <a:bodyPr/>
                    <a:lstStyle/>
                    <a:p>
                      <a:r>
                        <a:rPr lang="pt-BR" sz="1200" dirty="0"/>
                        <a:t>Janela de Cancelamento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Cancelamento	O cancelamento com estorno integral só é permitido se realizado com até 30 minutos de antecedência do horário agendado.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dirty="0"/>
                        <a:t>Exibição ou ocultação do botão "Cancelar Reserva" no histórico do app.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96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28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28C1-1E29-5219-C7F4-C216A033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caso de uso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1CC95F3-8350-81F4-47D1-B4E101B78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9020" y="1994900"/>
            <a:ext cx="4355690" cy="405137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512CF0F-9A51-10B7-7C94-9B4308723D2E}"/>
              </a:ext>
            </a:extLst>
          </p:cNvPr>
          <p:cNvSpPr txBox="1"/>
          <p:nvPr/>
        </p:nvSpPr>
        <p:spPr>
          <a:xfrm>
            <a:off x="422788" y="2413337"/>
            <a:ext cx="56732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diagrama de caso de uso focado no ator </a:t>
            </a:r>
            <a:r>
              <a:rPr lang="pt-BR" b="1" dirty="0"/>
              <a:t>Cliente/Motorista</a:t>
            </a:r>
            <a:r>
              <a:rPr lang="pt-BR" dirty="0"/>
              <a:t> mapeia a jornada completa do usuário final dentro do ecossistema do </a:t>
            </a:r>
            <a:r>
              <a:rPr lang="pt-BR" b="1" dirty="0"/>
              <a:t>Estacionamento</a:t>
            </a:r>
            <a:r>
              <a:rPr lang="pt-BR" dirty="0"/>
              <a:t>. Ele delimita a fronteira do sistema "Estacionamento" e ilustra graficamente como as interfaces do aplicativo mobile dão autonomia ao motorista para mitigar a burocracia e garantir sua previsibilidade urbana.</a:t>
            </a:r>
          </a:p>
        </p:txBody>
      </p:sp>
    </p:spTree>
    <p:extLst>
      <p:ext uri="{BB962C8B-B14F-4D97-AF65-F5344CB8AC3E}">
        <p14:creationId xmlns:p14="http://schemas.microsoft.com/office/powerpoint/2010/main" val="212173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C340B-81C7-F0D6-49E9-988F8072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entidade e relacionamento (der)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23408E-753E-E06C-BA19-7841A7A1ED57}"/>
              </a:ext>
            </a:extLst>
          </p:cNvPr>
          <p:cNvSpPr txBox="1"/>
          <p:nvPr/>
        </p:nvSpPr>
        <p:spPr>
          <a:xfrm>
            <a:off x="393291" y="2113935"/>
            <a:ext cx="36182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Diagrama de Entidade e Relacionamento (DER) Conceitual representa a arquitetura de dados e as regras de negócio que sustentam o sistema de</a:t>
            </a:r>
            <a:r>
              <a:rPr lang="pt-BR" b="1" dirty="0"/>
              <a:t> Estacionamento</a:t>
            </a:r>
            <a:r>
              <a:rPr lang="pt-BR" dirty="0"/>
              <a:t>. Desenvolvido com foco na integridade das informações e na eliminação de redundâncias, o modelo mapeia o fluxo lógico do aplicativo de forma linear e integrada:</a:t>
            </a:r>
            <a:br>
              <a:rPr lang="pt-BR" dirty="0"/>
            </a:br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5CC94F0-E275-9550-9D29-E730CC4CC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172" y="1936955"/>
            <a:ext cx="7344144" cy="410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9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7E96-24E4-4AF6-3710-66D6D92A8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entidade e relacionamento (lógico)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3CD2CFD-4681-70A8-12A1-5CD595D1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3" y="2051438"/>
            <a:ext cx="11254154" cy="431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5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EB7A1-63AD-B77B-309C-DB4E0E4C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Politica de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925913-FDD1-74A8-8A39-AA4ABCA90C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sz="2800" b="1" dirty="0"/>
              <a:t>Teste de Banco de dados</a:t>
            </a:r>
          </a:p>
          <a:p>
            <a:r>
              <a:rPr lang="pt-BR" dirty="0"/>
              <a:t>Testar se o sistema impede a reserva de veículos sem dados de </a:t>
            </a:r>
            <a:r>
              <a:rPr lang="pt-BR" b="1" dirty="0" err="1"/>
              <a:t>Id_veiculo</a:t>
            </a:r>
            <a:r>
              <a:rPr lang="pt-BR" dirty="0"/>
              <a:t> e </a:t>
            </a:r>
            <a:r>
              <a:rPr lang="pt-BR" b="1" dirty="0" err="1"/>
              <a:t>Id_estacionamento</a:t>
            </a:r>
            <a:r>
              <a:rPr lang="pt-BR" dirty="0"/>
              <a:t> no BD;</a:t>
            </a:r>
          </a:p>
          <a:p>
            <a:r>
              <a:rPr lang="pt-BR" dirty="0"/>
              <a:t>Validar se o sistema bloqueia limite estipulado de caracteres;</a:t>
            </a:r>
          </a:p>
          <a:p>
            <a:r>
              <a:rPr lang="pt-BR" dirty="0"/>
              <a:t>Garantir que o sistema rejeite o cadastro de </a:t>
            </a:r>
            <a:r>
              <a:rPr lang="pt-BR" dirty="0" err="1"/>
              <a:t>doís</a:t>
            </a:r>
            <a:r>
              <a:rPr lang="pt-BR" dirty="0"/>
              <a:t> usuários com o mesmo e-mail ou dois veículos com a mesma placa.</a:t>
            </a: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86BECC-0EAF-3C8C-E6A0-88F7A7C73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5" y="2228003"/>
            <a:ext cx="5422390" cy="3167647"/>
          </a:xfrm>
        </p:spPr>
        <p:txBody>
          <a:bodyPr/>
          <a:lstStyle/>
          <a:p>
            <a:pPr marL="0" indent="0" algn="ctr">
              <a:buNone/>
            </a:pPr>
            <a:r>
              <a:rPr lang="pt-BR" sz="2800" b="1" dirty="0"/>
              <a:t>Testes de Funcionais</a:t>
            </a:r>
          </a:p>
          <a:p>
            <a:pPr marL="0" indent="0">
              <a:buNone/>
            </a:pPr>
            <a:endParaRPr lang="pt-BR" sz="2800" b="1" dirty="0"/>
          </a:p>
          <a:p>
            <a:r>
              <a:rPr lang="pt-BR" dirty="0"/>
              <a:t>Verificar funcionalidades de cadastro e login ao sistema;</a:t>
            </a:r>
          </a:p>
          <a:p>
            <a:r>
              <a:rPr lang="pt-BR" dirty="0"/>
              <a:t>Cadastro de novos veículos;</a:t>
            </a:r>
          </a:p>
          <a:p>
            <a:r>
              <a:rPr lang="pt-BR" dirty="0"/>
              <a:t>Realizar pagamento.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126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ABF9-6BA9-C194-381F-5F8DB3F6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4AD55-74B7-2A79-5F37-BFB91C69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Politica de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E19489-13A1-295E-C2E4-C1D00CA1A0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sz="2800" b="1" dirty="0"/>
              <a:t>Teste de UI/UX</a:t>
            </a:r>
          </a:p>
          <a:p>
            <a:endParaRPr lang="pt-BR" sz="1400" dirty="0"/>
          </a:p>
          <a:p>
            <a:r>
              <a:rPr lang="pt-BR" dirty="0"/>
              <a:t>Validar se o layout das telas (como o mapa de estacionamentos e a tela de checkout Pix) se adapta perfeitamente a diferentes tamanhos de smartphones (Android e </a:t>
            </a:r>
            <a:r>
              <a:rPr lang="pt-BR"/>
              <a:t>iOS).</a:t>
            </a:r>
            <a:endParaRPr lang="pt-BR" dirty="0"/>
          </a:p>
          <a:p>
            <a:r>
              <a:rPr lang="pt-BR" dirty="0"/>
              <a:t>Garantir que botões de ação crítica (como "Confirmar Reserva") fiquem desabilitados até que todos os campos obrigatórios (seleção da vaga e placa do veículo) sejam preenchidos.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164B87-08BE-919A-49BB-7AA9E617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9" y="2225990"/>
            <a:ext cx="5422390" cy="3167647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pt-BR" sz="2800" b="1" dirty="0"/>
          </a:p>
          <a:p>
            <a:pPr marL="0" indent="0" algn="ctr">
              <a:buNone/>
            </a:pPr>
            <a:r>
              <a:rPr lang="pt-BR" sz="2800" b="1" dirty="0"/>
              <a:t>Teste Funcionalidade</a:t>
            </a:r>
          </a:p>
          <a:p>
            <a:pPr marL="0" indent="0">
              <a:buNone/>
            </a:pPr>
            <a:endParaRPr lang="pt-BR" sz="2800" b="1" dirty="0"/>
          </a:p>
          <a:p>
            <a:r>
              <a:rPr lang="pt-BR" dirty="0"/>
              <a:t>Simular dois usuários tentando reservar a </a:t>
            </a:r>
            <a:r>
              <a:rPr lang="pt-BR" b="1" dirty="0"/>
              <a:t>última vaga disponível</a:t>
            </a:r>
            <a:r>
              <a:rPr lang="pt-BR" dirty="0"/>
              <a:t> no mesmo ESTACIONAMENTO e no mesmo minuto. O sistema deve garantir a vaga para o primeiro que clicar e rejeitar o segundo de forma limpa.</a:t>
            </a:r>
          </a:p>
          <a:p>
            <a:r>
              <a:rPr lang="pt-BR" dirty="0"/>
              <a:t>Validar se a multiplicação de (</a:t>
            </a:r>
            <a:r>
              <a:rPr lang="pt-BR" dirty="0" err="1"/>
              <a:t>hora_saida</a:t>
            </a:r>
            <a:r>
              <a:rPr lang="pt-BR" dirty="0"/>
              <a:t> - </a:t>
            </a:r>
            <a:r>
              <a:rPr lang="pt-BR" dirty="0" err="1"/>
              <a:t>hora_entrada</a:t>
            </a:r>
            <a:r>
              <a:rPr lang="pt-BR" dirty="0"/>
              <a:t>) x  </a:t>
            </a:r>
            <a:r>
              <a:rPr lang="pt-BR" dirty="0" err="1"/>
              <a:t>valor_hora</a:t>
            </a:r>
            <a:r>
              <a:rPr lang="pt-BR" dirty="0"/>
              <a:t> do estacionamento gera o valor correto que será inserido na tabela de pagamento.</a:t>
            </a:r>
          </a:p>
        </p:txBody>
      </p:sp>
    </p:spTree>
    <p:extLst>
      <p:ext uri="{BB962C8B-B14F-4D97-AF65-F5344CB8AC3E}">
        <p14:creationId xmlns:p14="http://schemas.microsoft.com/office/powerpoint/2010/main" val="1186856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3E909-D151-AF6E-6B33-4F41A885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Protótipo e principais telas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3C3D9-5AEE-F8BF-6423-178AB428D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180496"/>
            <a:ext cx="4373362" cy="36044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Foi usado a ferramenta </a:t>
            </a:r>
            <a:r>
              <a:rPr lang="pt-BR" dirty="0" err="1"/>
              <a:t>Figma</a:t>
            </a:r>
            <a:r>
              <a:rPr lang="pt-BR" dirty="0"/>
              <a:t> para projetar telas e integração entre as mesmas, gerando uma boa experiência e facilidade para os usuário.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r>
              <a:rPr lang="pt-BR" b="1" dirty="0"/>
              <a:t>URL para acesso as telas: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https://www.figma.com/proto/JDxhoZM1Vh1U6tYggSeTdA/Login---Register-Form--Auto-Layout---Community-?node-id=402-30&amp;p=f&amp;t=Xh333DwhdHv2qWim-0&amp;scaling=scale-down&amp;content-scaling=fixed&amp;page-id=0%3A1&amp;starting-point-node-id=402%3A30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2A351FC-5401-AF59-F273-F6EAF329B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298" y="2019718"/>
            <a:ext cx="2144890" cy="43006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FDF8D2D-C51C-5A6B-3BAE-DACCF8005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748" y="2019718"/>
            <a:ext cx="2144891" cy="43605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41240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D285-9777-A580-CEC2-3B95A011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A06EC-6DE6-2BDC-532E-0AA32E33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Protótipo e principais telas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586FEE5-2E3F-DC67-E5DF-5D02E08E9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96" y="2110158"/>
            <a:ext cx="2277436" cy="46775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9889862-FF00-8E9E-0F49-C21D9569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806" y="2110158"/>
            <a:ext cx="2297721" cy="46775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E5F4611-FF94-EA85-470D-74D5E8E03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471" y="2110158"/>
            <a:ext cx="2338752" cy="46775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71824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FF55-B15E-6118-0B9A-0DCC60F1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AD675-31BC-4F8A-92D9-3E328706D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Protótipo e principais telas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1EF1EA-6405-36B6-E09B-C563B23B1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02" y="2103435"/>
            <a:ext cx="2310685" cy="46390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EACD197-5AE5-4A13-E887-44D0F0BD2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212" y="2103435"/>
            <a:ext cx="2322430" cy="46390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E3B3567-721B-D131-9904-1E13541FA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360" y="2103435"/>
            <a:ext cx="2278504" cy="46390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8E976E0-AE5C-D04C-4693-6A4C4CC1C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015" y="2103435"/>
            <a:ext cx="2310683" cy="46563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67595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AC1FB-3D41-30FA-99E7-914F0F56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FA0B6A-4DBB-2D1A-279B-72024135F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 aplicação do Sistema de Estacionamento, foi desenvolvida com o objetivo de entregar aos motoristas a possibilidade de saírem para determinados locais com a certeza de ter uma vaga para guardar seu automóvel sem a preocupação de estacionarem em locais proibidos, rodarem por horas a procura de vagas ou até mesmo não encontrarem uma vaga disponível.</a:t>
            </a:r>
            <a:br>
              <a:rPr lang="pt-BR" dirty="0"/>
            </a:br>
            <a:r>
              <a:rPr lang="pt-BR" dirty="0"/>
              <a:t>Com esta aplicação em vigor e infraestrutura aceitando as reservas, reduziríamos a grande quantidade de carros estacionando em ruas, disputando com pedestres, além de multas e infrações por este motivo. Com um preço competitivo e a certeza de um local para preservar o bem do cliente é certeza de sucesso da aplicação.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Discente: Jordyson Santos da Cruz</a:t>
            </a:r>
            <a:br>
              <a:rPr lang="pt-BR" dirty="0"/>
            </a:br>
            <a:r>
              <a:rPr lang="pt-BR" dirty="0"/>
              <a:t>Disciplina: Engenharia de Software</a:t>
            </a:r>
          </a:p>
        </p:txBody>
      </p:sp>
    </p:spTree>
    <p:extLst>
      <p:ext uri="{BB962C8B-B14F-4D97-AF65-F5344CB8AC3E}">
        <p14:creationId xmlns:p14="http://schemas.microsoft.com/office/powerpoint/2010/main" val="272884497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{9C6C5F0C-061B-4D9F-BD97-E89BF3D4870A}TF319cfb39-eeba-4af5-a5a2-03d53d037516ba18b0e4-6927e36c86b6</Template>
  <TotalTime>11814</TotalTime>
  <Words>1822</Words>
  <Application>Microsoft Office PowerPoint</Application>
  <PresentationFormat>Widescreen</PresentationFormat>
  <Paragraphs>111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Arial</vt:lpstr>
      <vt:lpstr>Gill Sans MT</vt:lpstr>
      <vt:lpstr>Wingdings 2</vt:lpstr>
      <vt:lpstr>Dividendo</vt:lpstr>
      <vt:lpstr>Introdução</vt:lpstr>
      <vt:lpstr>Objetivos</vt:lpstr>
      <vt:lpstr>Principais Stakeholders </vt:lpstr>
      <vt:lpstr>Plataformas utilizadas para o desenvolvimento</vt:lpstr>
      <vt:lpstr>Levantamento de requisitos </vt:lpstr>
      <vt:lpstr>Levantamento de requisitos </vt:lpstr>
      <vt:lpstr>Diagrama de contexto</vt:lpstr>
      <vt:lpstr>Regras do negócios</vt:lpstr>
      <vt:lpstr>Regras do negócios</vt:lpstr>
      <vt:lpstr>Diagrama de caso de uso</vt:lpstr>
      <vt:lpstr>Diagrama de entidade e relacionamento (der)</vt:lpstr>
      <vt:lpstr>Diagrama de entidade e relacionamento (lógico)</vt:lpstr>
      <vt:lpstr>Politica de testes</vt:lpstr>
      <vt:lpstr>Politica de testes</vt:lpstr>
      <vt:lpstr>Protótipo e principais telas</vt:lpstr>
      <vt:lpstr>Protótipo e principais telas</vt:lpstr>
      <vt:lpstr>Protótipo e principais telas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jordyson santos da cruz</dc:creator>
  <cp:lastModifiedBy>jordyson santos da cruz</cp:lastModifiedBy>
  <cp:revision>1</cp:revision>
  <dcterms:created xsi:type="dcterms:W3CDTF">2026-05-17T19:09:47Z</dcterms:created>
  <dcterms:modified xsi:type="dcterms:W3CDTF">2026-06-03T00:13:33Z</dcterms:modified>
</cp:coreProperties>
</file>