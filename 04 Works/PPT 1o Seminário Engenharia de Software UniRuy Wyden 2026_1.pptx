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56" r:id="rId5"/>
    <p:sldId id="1448944842" r:id="rId6"/>
    <p:sldId id="1448944847" r:id="rId7"/>
    <p:sldId id="259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2" y="2559082"/>
            <a:ext cx="7016667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 fontScale="625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Engenharia de Software – Projeto de Sistemas Web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Palestrantes:  </a:t>
            </a:r>
            <a:r>
              <a:rPr lang="pt-BR" sz="3200" b="1" dirty="0" err="1">
                <a:solidFill>
                  <a:schemeClr val="bg1"/>
                </a:solidFill>
              </a:rPr>
              <a:t>xxxx</a:t>
            </a:r>
            <a:r>
              <a:rPr lang="pt-BR" sz="3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CF770C-2ECC-EF68-03A1-241E443FEDD9}"/>
              </a:ext>
            </a:extLst>
          </p:cNvPr>
          <p:cNvSpPr txBox="1">
            <a:spLocks/>
          </p:cNvSpPr>
          <p:nvPr/>
        </p:nvSpPr>
        <p:spPr>
          <a:xfrm>
            <a:off x="6262577" y="1609248"/>
            <a:ext cx="2450822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Seminário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0DCBB5F1-1BA0-4EF0-8CDD-85ACE3E2E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286" y="66748"/>
            <a:ext cx="561685" cy="56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6DEC8EFF-F062-4886-BF7B-9D355954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487" y="59153"/>
            <a:ext cx="561684" cy="56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CE899B-90E9-4B56-BBFE-5406760AA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4" t="43957" r="33812" b="1"/>
          <a:stretch/>
        </p:blipFill>
        <p:spPr>
          <a:xfrm>
            <a:off x="7447962" y="1495940"/>
            <a:ext cx="849810" cy="452797"/>
          </a:xfrm>
          <a:prstGeom prst="rect">
            <a:avLst/>
          </a:prstGeom>
        </p:spPr>
      </p:pic>
      <p:pic>
        <p:nvPicPr>
          <p:cNvPr id="12" name="Gráfico 11" descr="Pódio estrutura de tópicos">
            <a:extLst>
              <a:ext uri="{FF2B5EF4-FFF2-40B4-BE49-F238E27FC236}">
                <a16:creationId xmlns:a16="http://schemas.microsoft.com/office/drawing/2014/main" id="{AA22EE61-D162-4749-B007-EFE949E00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7195" y="628432"/>
            <a:ext cx="699300" cy="69930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5905B5EA-6B88-4832-A971-1787EC3B3F0B}"/>
              </a:ext>
            </a:extLst>
          </p:cNvPr>
          <p:cNvSpPr txBox="1"/>
          <p:nvPr/>
        </p:nvSpPr>
        <p:spPr>
          <a:xfrm>
            <a:off x="7206423" y="1189232"/>
            <a:ext cx="136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hangingPunct="1">
              <a:defRPr/>
            </a:pPr>
            <a:r>
              <a:rPr lang="pt-BR" sz="1200" kern="1200" dirty="0">
                <a:solidFill>
                  <a:prstClr val="black">
                    <a:lumMod val="65000"/>
                    <a:lumOff val="3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Circuitos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5E8087FC-230A-4E94-87FD-DF8DAF2A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45" y="0"/>
            <a:ext cx="41719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685754" eaLnBrk="1" hangingPunct="1">
              <a:defRPr/>
            </a:pPr>
            <a:r>
              <a:rPr lang="pt-BR" sz="1200" b="1" dirty="0">
                <a:solidFill>
                  <a:srgbClr val="663300"/>
                </a:solidFill>
                <a:latin typeface="Bookman Old Style" panose="02050604050505020204" pitchFamily="18" charset="0"/>
                <a:cs typeface="+mn-cs"/>
                <a:sym typeface="Gill Sans" charset="0"/>
              </a:rPr>
              <a:t>AGENDA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625603-C5B5-48EF-AE95-C4843C0F2FFF}"/>
              </a:ext>
            </a:extLst>
          </p:cNvPr>
          <p:cNvSpPr/>
          <p:nvPr/>
        </p:nvSpPr>
        <p:spPr>
          <a:xfrm>
            <a:off x="94520" y="277000"/>
            <a:ext cx="7111904" cy="2944396"/>
          </a:xfrm>
          <a:prstGeom prst="rect">
            <a:avLst/>
          </a:prstGeom>
          <a:grp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1"/>
            <a:endParaRPr lang="pt-BR" sz="1350" kern="120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46E0924-19D5-48A3-A437-7E97CC5DAE83}"/>
              </a:ext>
            </a:extLst>
          </p:cNvPr>
          <p:cNvSpPr/>
          <p:nvPr/>
        </p:nvSpPr>
        <p:spPr>
          <a:xfrm>
            <a:off x="94519" y="400769"/>
            <a:ext cx="6412604" cy="3736920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sym typeface="Gill Sans" charset="0"/>
              </a:rPr>
              <a:t>Contexto do Problema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sym typeface="Gill Sans" charset="0"/>
              </a:rPr>
              <a:t>Objetivo Geral e Específicos / </a:t>
            </a: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Justificativa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Especificação de Requisitos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Diagramas do Sistema: Contexto / DFD de Nível Zero / DFD por Evento / UML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Requisitos Funcionais e Não Funcionais / Regras de Negócio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Arquitetura do Sistema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Modelo Conceitual (MER)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Design do Domínio (DER)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Modelo Comportamental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>
                <a:solidFill>
                  <a:srgbClr val="887E6F"/>
                </a:solidFill>
                <a:latin typeface="Bookman Old Style"/>
              </a:rPr>
              <a:t>Dicionário </a:t>
            </a: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de Dados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Tecnologias Utilizadas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Telas de Cadastros, Diálogos e Layout de Relatórios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Política de Qualidade 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Política de Implantação: Implantação/Treinamento/Homologação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</a:rPr>
              <a:t>Perguntas da Plateia</a:t>
            </a:r>
            <a:endParaRPr lang="pt-BR" sz="9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</p:txBody>
      </p:sp>
      <p:pic>
        <p:nvPicPr>
          <p:cNvPr id="22" name="Imagem 21" descr="Uma imagem contendo estrada, edifício, ao ar livre, rua&#10;&#10;Descrição gerada automaticamente">
            <a:extLst>
              <a:ext uri="{FF2B5EF4-FFF2-40B4-BE49-F238E27FC236}">
                <a16:creationId xmlns:a16="http://schemas.microsoft.com/office/drawing/2014/main" id="{F95CDA4E-FFC4-4AA7-B46E-B48E532402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4" y="4070126"/>
            <a:ext cx="1237950" cy="1040474"/>
          </a:xfrm>
          <a:prstGeom prst="rect">
            <a:avLst/>
          </a:prstGeom>
        </p:spPr>
      </p:pic>
      <p:pic>
        <p:nvPicPr>
          <p:cNvPr id="23" name="Imagem 22" descr="Ponte por cima de entrada de estabelecimento&#10;&#10;Descrição gerada automaticamente com confiança média">
            <a:extLst>
              <a:ext uri="{FF2B5EF4-FFF2-40B4-BE49-F238E27FC236}">
                <a16:creationId xmlns:a16="http://schemas.microsoft.com/office/drawing/2014/main" id="{F0A82F93-B3B0-4B50-BB15-0F50D1CF3A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968" y="4069222"/>
            <a:ext cx="1237951" cy="1034465"/>
          </a:xfrm>
          <a:prstGeom prst="rect">
            <a:avLst/>
          </a:prstGeom>
        </p:spPr>
      </p:pic>
      <p:pic>
        <p:nvPicPr>
          <p:cNvPr id="24" name="Imagem 23" descr="Loja com portas de vidro&#10;&#10;Descrição gerada automaticamente">
            <a:extLst>
              <a:ext uri="{FF2B5EF4-FFF2-40B4-BE49-F238E27FC236}">
                <a16:creationId xmlns:a16="http://schemas.microsoft.com/office/drawing/2014/main" id="{F441C86D-2E35-4447-B899-4FB2D2D25D1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670" y="4048055"/>
            <a:ext cx="1237950" cy="1043326"/>
          </a:xfrm>
          <a:prstGeom prst="rect">
            <a:avLst/>
          </a:prstGeom>
        </p:spPr>
      </p:pic>
      <p:pic>
        <p:nvPicPr>
          <p:cNvPr id="25" name="Imagem 15" descr="Texto, Logotipo&#10;&#10;Descrição gerada automaticamente">
            <a:extLst>
              <a:ext uri="{FF2B5EF4-FFF2-40B4-BE49-F238E27FC236}">
                <a16:creationId xmlns:a16="http://schemas.microsoft.com/office/drawing/2014/main" id="{270D1796-7301-4B25-83DD-5407881663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422" y="3954910"/>
            <a:ext cx="1237950" cy="113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401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Conteúdo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99</Words>
  <Application>Microsoft Office PowerPoint</Application>
  <PresentationFormat>Apresentação na tela (16:9)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Big Shoulders Display Black</vt:lpstr>
      <vt:lpstr>Bookman Old Style</vt:lpstr>
      <vt:lpstr>Calibri</vt:lpstr>
      <vt:lpstr>Wingdings</vt:lpstr>
      <vt:lpstr>Office Theme</vt:lpstr>
      <vt:lpstr>Apresentação do PowerPoint</vt:lpstr>
      <vt:lpstr>Apresentação do PowerPoint</vt:lpstr>
      <vt:lpstr>Conteúdo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Heleno Cardoso</cp:lastModifiedBy>
  <cp:revision>116</cp:revision>
  <dcterms:modified xsi:type="dcterms:W3CDTF">2026-05-22T12:47:46Z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