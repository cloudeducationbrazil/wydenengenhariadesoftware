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56" r:id="rId5"/>
    <p:sldId id="1448944842" r:id="rId6"/>
    <p:sldId id="1448944847" r:id="rId7"/>
    <p:sldId id="1448944854" r:id="rId8"/>
    <p:sldId id="1448944856" r:id="rId9"/>
    <p:sldId id="1448944859" r:id="rId10"/>
    <p:sldId id="1448944860" r:id="rId11"/>
    <p:sldId id="1448944858" r:id="rId12"/>
    <p:sldId id="1448944857" r:id="rId13"/>
    <p:sldId id="259" r:id="rId14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5B"/>
    <a:srgbClr val="FF2A00"/>
    <a:srgbClr val="B4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0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72BE2E5-C53B-4115-9A54-D8BA6D9E199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2FBB75D-85BB-43BF-A75C-9700D9C721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3532" y="2932934"/>
            <a:ext cx="3750468" cy="224881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AD26EA1-9748-44E3-B232-07330DFDB2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3" y="525796"/>
            <a:ext cx="3792000" cy="1800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1697169F-C56B-4189-A307-A2853A306BC5}"/>
              </a:ext>
            </a:extLst>
          </p:cNvPr>
          <p:cNvSpPr/>
          <p:nvPr userDrawn="1"/>
        </p:nvSpPr>
        <p:spPr>
          <a:xfrm>
            <a:off x="0" y="-38250"/>
            <a:ext cx="9144000" cy="5220000"/>
          </a:xfrm>
          <a:prstGeom prst="rect">
            <a:avLst/>
          </a:prstGeom>
          <a:solidFill>
            <a:srgbClr val="002C2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0A207C0-B955-4401-AF12-CF5324270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" y="-144575"/>
            <a:ext cx="4657059" cy="279241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5798619-212D-4D1E-81CE-D5B296300E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1307" y="4216938"/>
            <a:ext cx="1896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30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BD69EDC2-B707-4557-B0E8-CC7659A79FAE}"/>
              </a:ext>
            </a:extLst>
          </p:cNvPr>
          <p:cNvSpPr/>
          <p:nvPr userDrawn="1"/>
        </p:nvSpPr>
        <p:spPr>
          <a:xfrm>
            <a:off x="0" y="-56250"/>
            <a:ext cx="9144000" cy="52560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D5B860-F608-404D-A6E3-55CFD79087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76000" y="1671750"/>
            <a:ext cx="3792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587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392388" y="1597822"/>
            <a:ext cx="7551149" cy="110252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058665" y="2914650"/>
            <a:ext cx="6218594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2CD95A-A8A7-4A28-A57B-5AFF58CAE495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12BF48C-4100-432C-A72C-2CA72BFD98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91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305176"/>
            <a:ext cx="7551149" cy="102155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392388" y="2180034"/>
            <a:ext cx="7551149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9B2584-D82A-434C-907E-5AD4708B4A5F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BA4A514-A3EF-435D-BF62-1B3935848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A7463F-7713-42EA-8A15-BDA2961FCD2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7CC0238-F9AC-4816-B8CD-E40135A634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05743" y="1371599"/>
            <a:ext cx="3637794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 dirty="0"/>
          </a:p>
        </p:txBody>
      </p:sp>
      <p:sp>
        <p:nvSpPr>
          <p:cNvPr id="13" name="Texto do Título">
            <a:extLst>
              <a:ext uri="{FF2B5EF4-FFF2-40B4-BE49-F238E27FC236}">
                <a16:creationId xmlns:a16="http://schemas.microsoft.com/office/drawing/2014/main" id="{71A1DC59-F919-49D7-93AC-7F97FA448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4" name="Nível de Corpo Um…">
            <a:extLst>
              <a:ext uri="{FF2B5EF4-FFF2-40B4-BE49-F238E27FC236}">
                <a16:creationId xmlns:a16="http://schemas.microsoft.com/office/drawing/2014/main" id="{DAE5C6F0-0EB8-4E38-B508-92B4D1C0536A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1D7A5D-A48A-4407-AC8A-A2B933367683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E9DF7DC-3AC6-4ACF-B842-7129C4314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8FD593-B78A-44C8-9101-48A080424BD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0C5646E-5BBA-42C0-BB13-DF961E3AF3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9912"/>
            <a:ext cx="3008315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575050" y="379915"/>
            <a:ext cx="4368487" cy="4389836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392388" y="1251454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88ECC2-470E-4E41-8255-6900EE08FF8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07629A3-E5F3-4232-AC3E-7E773C88E9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/>
          </p:nvPr>
        </p:nvSpPr>
        <p:spPr>
          <a:xfrm>
            <a:off x="1424762" y="3599015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424762" y="377427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424762" y="4159556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2456B8-1030-4813-B77D-CFBEB057381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07B511C-2EB3-40D0-BCAC-2B9DB5137B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205978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1200150"/>
            <a:ext cx="7551149" cy="339447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EBB230-F7F9-40F8-A09E-9AB050F119BB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0E84E17-BDC1-41DD-97A2-C32AFF1C4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/>
          </p:nvPr>
        </p:nvSpPr>
        <p:spPr>
          <a:xfrm>
            <a:off x="6082331" y="377426"/>
            <a:ext cx="1797645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377426"/>
            <a:ext cx="5517594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40BD70-AE55-46A6-B9E1-7E6B4A3E2597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3AB3B02-E76C-4FAB-AD1B-354C5F1CD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377427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iandt.com/br/pt-br/flow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CB13E4-4A11-48C5-A5A3-7FAB1396ADAB}"/>
              </a:ext>
            </a:extLst>
          </p:cNvPr>
          <p:cNvSpPr txBox="1">
            <a:spLocks/>
          </p:cNvSpPr>
          <p:nvPr/>
        </p:nvSpPr>
        <p:spPr>
          <a:xfrm>
            <a:off x="442912" y="2559082"/>
            <a:ext cx="7628643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 fontScale="77500" lnSpcReduction="200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Mini Curso de Férias Engenharia de Software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4EFB-1823-854F-EADA-689E053E3A06}"/>
              </a:ext>
            </a:extLst>
          </p:cNvPr>
          <p:cNvSpPr txBox="1">
            <a:spLocks/>
          </p:cNvSpPr>
          <p:nvPr/>
        </p:nvSpPr>
        <p:spPr>
          <a:xfrm>
            <a:off x="435819" y="3508916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Palestrante: </a:t>
            </a:r>
            <a:r>
              <a:rPr lang="pt-BR" sz="3200" b="1" dirty="0" err="1">
                <a:solidFill>
                  <a:schemeClr val="bg1"/>
                </a:solidFill>
              </a:rPr>
              <a:t>Eng</a:t>
            </a:r>
            <a:r>
              <a:rPr lang="pt-BR" sz="3200" b="1" dirty="0">
                <a:solidFill>
                  <a:schemeClr val="bg1"/>
                </a:solidFill>
              </a:rPr>
              <a:t> </a:t>
            </a:r>
            <a:r>
              <a:rPr lang="pt-BR" sz="3200" b="1" dirty="0" err="1">
                <a:solidFill>
                  <a:schemeClr val="bg1"/>
                </a:solidFill>
              </a:rPr>
              <a:t>MSc</a:t>
            </a:r>
            <a:r>
              <a:rPr lang="pt-BR" sz="3200" b="1">
                <a:solidFill>
                  <a:schemeClr val="bg1"/>
                </a:solidFill>
              </a:rPr>
              <a:t> Heleno </a:t>
            </a:r>
            <a:r>
              <a:rPr lang="pt-BR" sz="3200" b="1" dirty="0">
                <a:solidFill>
                  <a:schemeClr val="bg1"/>
                </a:solidFill>
              </a:rPr>
              <a:t>Cardoso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0DCBB5F1-1BA0-4EF0-8CDD-85ACE3E2E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286" y="66748"/>
            <a:ext cx="561685" cy="56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6DEC8EFF-F062-4886-BF7B-9D355954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487" y="59153"/>
            <a:ext cx="561684" cy="56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5CE899B-90E9-4B56-BBFE-5406760AA2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64" t="43957" r="33812" b="1"/>
          <a:stretch/>
        </p:blipFill>
        <p:spPr>
          <a:xfrm>
            <a:off x="7447962" y="1495940"/>
            <a:ext cx="849810" cy="452797"/>
          </a:xfrm>
          <a:prstGeom prst="rect">
            <a:avLst/>
          </a:prstGeom>
        </p:spPr>
      </p:pic>
      <p:pic>
        <p:nvPicPr>
          <p:cNvPr id="12" name="Gráfico 11" descr="Pódio estrutura de tópicos">
            <a:extLst>
              <a:ext uri="{FF2B5EF4-FFF2-40B4-BE49-F238E27FC236}">
                <a16:creationId xmlns:a16="http://schemas.microsoft.com/office/drawing/2014/main" id="{AA22EE61-D162-4749-B007-EFE949E00E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7195" y="628432"/>
            <a:ext cx="699300" cy="699300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5905B5EA-6B88-4832-A971-1787EC3B3F0B}"/>
              </a:ext>
            </a:extLst>
          </p:cNvPr>
          <p:cNvSpPr txBox="1"/>
          <p:nvPr/>
        </p:nvSpPr>
        <p:spPr>
          <a:xfrm>
            <a:off x="7206423" y="1189232"/>
            <a:ext cx="1360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hangingPunct="1">
              <a:defRPr/>
            </a:pPr>
            <a:r>
              <a:rPr lang="pt-BR" sz="1200" kern="1200" dirty="0">
                <a:solidFill>
                  <a:prstClr val="black">
                    <a:lumMod val="65000"/>
                    <a:lumOff val="3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Circuitos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5E8087FC-230A-4E94-87FD-DF8DAF2AE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45" y="0"/>
            <a:ext cx="4171908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685754" eaLnBrk="1" hangingPunct="1">
              <a:defRPr/>
            </a:pPr>
            <a:r>
              <a:rPr lang="pt-BR" sz="2800" b="1" dirty="0">
                <a:solidFill>
                  <a:srgbClr val="663300"/>
                </a:solidFill>
                <a:latin typeface="Bookman Old Style" panose="02050604050505020204" pitchFamily="18" charset="0"/>
                <a:cs typeface="+mn-cs"/>
                <a:sym typeface="Gill Sans" charset="0"/>
              </a:rPr>
              <a:t>AGENDA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9625603-C5B5-48EF-AE95-C4843C0F2FFF}"/>
              </a:ext>
            </a:extLst>
          </p:cNvPr>
          <p:cNvSpPr/>
          <p:nvPr/>
        </p:nvSpPr>
        <p:spPr>
          <a:xfrm>
            <a:off x="94520" y="593092"/>
            <a:ext cx="7111904" cy="3677268"/>
          </a:xfrm>
          <a:prstGeom prst="rect">
            <a:avLst/>
          </a:prstGeom>
          <a:grp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hangingPunct="1"/>
            <a:endParaRPr lang="pt-BR" sz="1350" kern="1200">
              <a:solidFill>
                <a:prstClr val="white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46E0924-19D5-48A3-A437-7E97CC5DAE83}"/>
              </a:ext>
            </a:extLst>
          </p:cNvPr>
          <p:cNvSpPr/>
          <p:nvPr/>
        </p:nvSpPr>
        <p:spPr>
          <a:xfrm>
            <a:off x="94519" y="400769"/>
            <a:ext cx="6412604" cy="2944396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  <a:sym typeface="Gill Sans" charset="0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  <a:sym typeface="Gill Sans" charset="0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Introdução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Tipos de Projetos</a:t>
            </a: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Ciclo de Vida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IA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Questão ENADE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9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13D5166-1726-80B1-8C65-66B684620F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725" y="664528"/>
            <a:ext cx="4598037" cy="35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401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333" y="125491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Introdução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B8B476-7807-D7FF-02BC-485EF40A7B76}"/>
              </a:ext>
            </a:extLst>
          </p:cNvPr>
          <p:cNvSpPr txBox="1"/>
          <p:nvPr/>
        </p:nvSpPr>
        <p:spPr>
          <a:xfrm>
            <a:off x="372236" y="2151514"/>
            <a:ext cx="7512755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pt-BR" dirty="0"/>
              <a:t>A </a:t>
            </a:r>
            <a:r>
              <a:rPr lang="pt-BR" b="1" dirty="0">
                <a:solidFill>
                  <a:srgbClr val="FF0000"/>
                </a:solidFill>
              </a:rPr>
              <a:t>Engenharia de Software </a:t>
            </a:r>
            <a:r>
              <a:rPr lang="pt-BR" dirty="0"/>
              <a:t>é a área da Computação que aplica métodos, técnicas e boas práticas para desenvolver, testar e manter sistemas de software com qualidade, atendendo aos requisitos dos usuários de forma eficiente, segura e confiável.</a:t>
            </a:r>
          </a:p>
        </p:txBody>
      </p:sp>
    </p:spTree>
    <p:extLst>
      <p:ext uri="{BB962C8B-B14F-4D97-AF65-F5344CB8AC3E}">
        <p14:creationId xmlns:p14="http://schemas.microsoft.com/office/powerpoint/2010/main" val="9244227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333" y="80335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Introdução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0B21A51-3E4F-7663-6365-E39EB1ECE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013" y="1079485"/>
            <a:ext cx="5475297" cy="382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9700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662" y="193223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Tipos de Projeto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9D9898-EF18-26F2-FFB6-4627C1A2045E}"/>
              </a:ext>
            </a:extLst>
          </p:cNvPr>
          <p:cNvSpPr txBox="1"/>
          <p:nvPr/>
        </p:nvSpPr>
        <p:spPr>
          <a:xfrm>
            <a:off x="299154" y="1342044"/>
            <a:ext cx="7749823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3200" dirty="0"/>
              <a:t>Projeto Técnico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pt-BR" sz="3200" dirty="0"/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3200" dirty="0"/>
              <a:t>Projeto Lógico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pt-BR" sz="3200" dirty="0"/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3200" dirty="0"/>
              <a:t>Projeto Físico</a:t>
            </a:r>
          </a:p>
        </p:txBody>
      </p:sp>
    </p:spTree>
    <p:extLst>
      <p:ext uri="{BB962C8B-B14F-4D97-AF65-F5344CB8AC3E}">
        <p14:creationId xmlns:p14="http://schemas.microsoft.com/office/powerpoint/2010/main" val="414689679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2CBEE-BF60-9E68-472E-272E18D5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E4C967E-F669-F360-0F68-B320A56DA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662" y="193223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Ciclo de Vida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CBF695-55DD-28FC-E7CE-7F74A50E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57" y="1370736"/>
            <a:ext cx="7724274" cy="357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21118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84421-B79B-234F-083F-5F09B160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9819572-C0B5-3259-7973-A201DAC08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662" y="193223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374C43-6255-0E18-F345-FF547CB72A16}"/>
              </a:ext>
            </a:extLst>
          </p:cNvPr>
          <p:cNvSpPr txBox="1"/>
          <p:nvPr/>
        </p:nvSpPr>
        <p:spPr>
          <a:xfrm>
            <a:off x="299154" y="1342044"/>
            <a:ext cx="7749823" cy="34778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endParaRPr lang="pt-BR" sz="2000" dirty="0"/>
          </a:p>
          <a:p>
            <a:pPr algn="just"/>
            <a:r>
              <a:rPr lang="pt-BR" sz="2000" dirty="0"/>
              <a:t>A </a:t>
            </a:r>
            <a:r>
              <a:rPr lang="pt-BR" sz="2000" b="1" dirty="0">
                <a:solidFill>
                  <a:srgbClr val="FF0000"/>
                </a:solidFill>
              </a:rPr>
              <a:t>Inteligência Artificial </a:t>
            </a:r>
            <a:r>
              <a:rPr lang="pt-BR" sz="2000" dirty="0"/>
              <a:t>está revolucionando a </a:t>
            </a:r>
            <a:r>
              <a:rPr lang="pt-BR" sz="2000" b="1" dirty="0"/>
              <a:t>Engenharia de Software </a:t>
            </a:r>
            <a:r>
              <a:rPr lang="pt-BR" sz="2000" dirty="0"/>
              <a:t>ao automatizar tarefas, aumentar a produtividade e apoiar a criação de sistemas mais inteligentes.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No futuro, a </a:t>
            </a:r>
            <a:r>
              <a:rPr lang="pt-BR" sz="2000" b="1" dirty="0">
                <a:solidFill>
                  <a:srgbClr val="FF0000"/>
                </a:solidFill>
              </a:rPr>
              <a:t>IA</a:t>
            </a:r>
            <a:r>
              <a:rPr lang="pt-BR" sz="2000" dirty="0"/>
              <a:t> será uma importante aliada dos desenvolvedores, mas habilidades como criatividade, ética e pensamento crítico continuarão essenciais.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Exemplo: Estratégia de IA da CI&amp;T Flow. </a:t>
            </a:r>
            <a:r>
              <a:rPr lang="pt-BR" sz="2000" dirty="0">
                <a:hlinkClick r:id="rId2"/>
              </a:rPr>
              <a:t>https://ciandt.com/br/pt-br/flow</a:t>
            </a:r>
            <a:r>
              <a:rPr lang="pt-B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52859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17E4C-4099-7E7C-80BC-AA0177F6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CAED218-E00D-9B5E-866C-F07FC5FB1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662" y="193223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Questão ENADE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8CDF2A-D2EA-40E0-72FC-06F9E25FF86E}"/>
              </a:ext>
            </a:extLst>
          </p:cNvPr>
          <p:cNvSpPr txBox="1"/>
          <p:nvPr/>
        </p:nvSpPr>
        <p:spPr>
          <a:xfrm>
            <a:off x="299154" y="1342044"/>
            <a:ext cx="7749823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pt-BR" dirty="0"/>
              <a:t>Uma empresa está desenvolvendo um sistema de gestão hospitalar que será utilizado simultaneamente por médicos, enfermeiros, recepcionistas e administradores. Durante o desenvolvimento, a equipe identificou a necessidade de garantir que o sistema seja confiável, seguro, de fácil manutenção e capaz de suportar um grande número de usuários acessando o sistema ao mesmo tempo.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Considerando os atributos de qualidade de software e as boas práticas da Engenharia de Software, </a:t>
            </a:r>
            <a:r>
              <a:rPr lang="pt-BR" b="1" dirty="0">
                <a:solidFill>
                  <a:srgbClr val="FF0000"/>
                </a:solidFill>
              </a:rPr>
              <a:t>assinale a alternativa CORRETA</a:t>
            </a:r>
            <a:r>
              <a:rPr lang="pt-BR" dirty="0"/>
              <a:t>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A) A funcionalidade é o único atributo relevante para o sucesso de um sistema, pois requisitos não funcionais podem ser adicionados após a implantação.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98558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9A9D1-E4AC-93BF-9ACC-AE41221F5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9B63F80-8EA9-C830-0850-EA67613C8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662" y="193223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Questão ENADE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CDF3FD-F297-495C-95EE-4BAAE9BC50CF}"/>
              </a:ext>
            </a:extLst>
          </p:cNvPr>
          <p:cNvSpPr txBox="1"/>
          <p:nvPr/>
        </p:nvSpPr>
        <p:spPr>
          <a:xfrm>
            <a:off x="299154" y="1137502"/>
            <a:ext cx="7749823" cy="3970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pt-BR" dirty="0"/>
              <a:t>B) Os requisitos não funcionais descrevem apenas as funcionalidades que o sistema deve executar, não contemplando aspectos como desempenho, segurança e disponibilidade.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C) A utilização de uma arquitetura bem definida, associada à documentação adequada e à adoção de padrões de projeto, contribui para melhorar a manutenibilidade, a escalabilidade e a qualidade do software...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D) A realização de testes unitários elimina a necessidade de testes de integração e de validação do sistema, reduzindo significativamente o custo do desenvolvimento.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E) A segurança da informação deve ser considerada apenas na fase de implantação do sistema, quando o ambiente de produção estiver disponível.</a:t>
            </a:r>
          </a:p>
        </p:txBody>
      </p:sp>
    </p:spTree>
    <p:extLst>
      <p:ext uri="{BB962C8B-B14F-4D97-AF65-F5344CB8AC3E}">
        <p14:creationId xmlns:p14="http://schemas.microsoft.com/office/powerpoint/2010/main" val="358654248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7C63-F2EC-3C46-F573-CE240809155A}"/>
              </a:ext>
            </a:extLst>
          </p:cNvPr>
          <p:cNvSpPr txBox="1">
            <a:spLocks/>
          </p:cNvSpPr>
          <p:nvPr/>
        </p:nvSpPr>
        <p:spPr>
          <a:xfrm>
            <a:off x="722900" y="4029915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Obrigado!!!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ersonalizada 2">
      <a:majorFont>
        <a:latin typeface="Big Shoulders Display Black"/>
        <a:ea typeface="Calibri"/>
        <a:cs typeface="Calibri"/>
      </a:majorFont>
      <a:minorFont>
        <a:latin typeface="Georam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E326A6FBD7C948AAF887265A2DB080" ma:contentTypeVersion="13" ma:contentTypeDescription="Crie um novo documento." ma:contentTypeScope="" ma:versionID="5629727caf6964b78819cfb788ada473">
  <xsd:schema xmlns:xsd="http://www.w3.org/2001/XMLSchema" xmlns:xs="http://www.w3.org/2001/XMLSchema" xmlns:p="http://schemas.microsoft.com/office/2006/metadata/properties" xmlns:ns2="bab2302b-9cf7-40b9-b316-803bc24ea342" xmlns:ns3="c298cbf6-df3b-44f4-88ee-2b3d9158f680" targetNamespace="http://schemas.microsoft.com/office/2006/metadata/properties" ma:root="true" ma:fieldsID="929990cc5bdd3bebd2af3f9d94cdeeec" ns2:_="" ns3:_="">
    <xsd:import namespace="bab2302b-9cf7-40b9-b316-803bc24ea342"/>
    <xsd:import namespace="c298cbf6-df3b-44f4-88ee-2b3d9158f6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2302b-9cf7-40b9-b316-803bc24ea3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8cbf6-df3b-44f4-88ee-2b3d9158f68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1A30F4-F1EA-4F98-A164-76D337EE556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A7BB859-CC6B-497C-9B96-0A0D80ADCD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2302b-9cf7-40b9-b316-803bc24ea342"/>
    <ds:schemaRef ds:uri="c298cbf6-df3b-44f4-88ee-2b3d9158f6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D456AD-07D2-43E3-AD57-2C90490666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1568</TotalTime>
  <Words>381</Words>
  <Application>Microsoft Office PowerPoint</Application>
  <PresentationFormat>Apresentação na tela (16:9)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Big Shoulders Display Black</vt:lpstr>
      <vt:lpstr>Bookman Old Style</vt:lpstr>
      <vt:lpstr>Calibri</vt:lpstr>
      <vt:lpstr>Wingdings</vt:lpstr>
      <vt:lpstr>Office Theme</vt:lpstr>
      <vt:lpstr>Apresentação do PowerPoint</vt:lpstr>
      <vt:lpstr>Apresentação do PowerPoint</vt:lpstr>
      <vt:lpstr>Introdução</vt:lpstr>
      <vt:lpstr>Introdução</vt:lpstr>
      <vt:lpstr>Tipos de Projeto</vt:lpstr>
      <vt:lpstr>Ciclo de Vida</vt:lpstr>
      <vt:lpstr>IA</vt:lpstr>
      <vt:lpstr>Questão ENADE</vt:lpstr>
      <vt:lpstr>Questão ENADE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NONONONONO NONONONONO NONONONO</dc:title>
  <dc:creator>Anderson Carvalho dos  Santos</dc:creator>
  <cp:lastModifiedBy>Heleno Cardoso</cp:lastModifiedBy>
  <cp:revision>141</cp:revision>
  <dcterms:modified xsi:type="dcterms:W3CDTF">2026-07-29T21:08:48Z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0x010100E7E326A6FBD7C948AAF887265A2DB080</vt:lpwstr>
  </property>
</Properties>
</file>